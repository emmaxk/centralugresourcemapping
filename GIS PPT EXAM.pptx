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5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1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9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6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7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8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4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9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7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31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8454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11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9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96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7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5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F84BD9F-43F1-494D-84D3-FCF28ACC565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EC94-2ECB-49A3-8C05-3FA419C04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17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8F1C-33C3-C6CC-75B8-6419D666B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6319" y="227792"/>
            <a:ext cx="8825658" cy="2971800"/>
          </a:xfrm>
        </p:spPr>
        <p:txBody>
          <a:bodyPr>
            <a:normAutofit/>
          </a:bodyPr>
          <a:lstStyle/>
          <a:p>
            <a:r>
              <a:rPr lang="en-US" sz="4800" b="1" dirty="0"/>
              <a:t>Community Resource Mapping (Health, Education, or Safety Facilities)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C3B10-2009-3C91-815F-CD39C4026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9341" y="3710578"/>
            <a:ext cx="3429000" cy="37813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FD741D-84F2-3667-3333-E123116FF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56062"/>
              </p:ext>
            </p:extLst>
          </p:nvPr>
        </p:nvGraphicFramePr>
        <p:xfrm>
          <a:off x="1884083" y="4429919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83765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34327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743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KIZZA EMMANUEL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23/U/BIT/0349/K/D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3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NUWAGABA EDSON KATO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23/U/BIT/0139/K/D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04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704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C877-3BCC-92F2-8953-9F75221F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Project Name: </a:t>
            </a:r>
            <a:r>
              <a:rPr lang="en-US" sz="3200" b="1" dirty="0" err="1"/>
              <a:t>CentralUgandaGIS</a:t>
            </a:r>
            <a:r>
              <a:rPr lang="en-US" sz="3200" b="1" dirty="0"/>
              <a:t> Platform (Community Resource Locator)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27CC7-E234-79A9-D680-CEF141377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929" y="1853248"/>
            <a:ext cx="10327341" cy="4735811"/>
          </a:xfrm>
        </p:spPr>
        <p:txBody>
          <a:bodyPr>
            <a:normAutofit/>
          </a:bodyPr>
          <a:lstStyle/>
          <a:p>
            <a:r>
              <a:rPr lang="en-US" b="1" dirty="0"/>
              <a:t>1. Project Overview &amp; Methodology</a:t>
            </a:r>
          </a:p>
          <a:p>
            <a:r>
              <a:rPr lang="en-US" b="1" dirty="0"/>
              <a:t>1.1 Executive Summary</a:t>
            </a:r>
          </a:p>
          <a:p>
            <a:r>
              <a:rPr lang="en-US" dirty="0"/>
              <a:t>The UgandaGIS Platform is a comprehensive, professional web-based Geographic Information System (GIS) designed to map and analyze community resources across Central Uganda. This report details the development of a core component of this platform: an interactive map for locating health centers, schools, and public safety facilities. The project successfully fulfills all specified requirements by collecting data for numerous resources, displaying them on a dynamic web map using Leaflet.js, and implementing advanced features including detailed pop-ups, facility type filtering, and district-level visualization. The platform serves as a vital tool for enhancing resource accessibility, supporting data-driven decision-making, and improving community service delivery.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48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DFAA-828A-9BF3-0CEC-E9B56597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5776"/>
          </a:xfrm>
        </p:spPr>
        <p:txBody>
          <a:bodyPr/>
          <a:lstStyle/>
          <a:p>
            <a:r>
              <a:rPr lang="en-US" sz="3600" b="1" dirty="0"/>
              <a:t>1.2 Data Collection Process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39408-E74C-9518-3701-00502E2D2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1600200"/>
            <a:ext cx="10919012" cy="5002306"/>
          </a:xfrm>
        </p:spPr>
        <p:txBody>
          <a:bodyPr>
            <a:normAutofit/>
          </a:bodyPr>
          <a:lstStyle/>
          <a:p>
            <a:r>
              <a:rPr lang="en-US" dirty="0"/>
              <a:t>A multi-source methodology was employed to ensure the collection of comprehensive, accurate, and recent spatial data for community facilities.</a:t>
            </a:r>
          </a:p>
          <a:p>
            <a:pPr lvl="0"/>
            <a:r>
              <a:rPr lang="en-US" b="1" dirty="0"/>
              <a:t>Data Sources:</a:t>
            </a:r>
            <a:endParaRPr lang="en-US" dirty="0"/>
          </a:p>
          <a:p>
            <a:pPr lvl="1"/>
            <a:r>
              <a:rPr lang="en-US" sz="2000" b="1" dirty="0"/>
              <a:t>Primary Geodata:</a:t>
            </a:r>
            <a:r>
              <a:rPr lang="en-US" sz="2000" dirty="0"/>
              <a:t> District boundary data for Central Uganda was sourced and formatted into a dedicated </a:t>
            </a:r>
            <a:r>
              <a:rPr lang="en-US" sz="2000" dirty="0" err="1"/>
              <a:t>centralUgandaDistricts.geojson</a:t>
            </a:r>
            <a:r>
              <a:rPr lang="en-US" sz="2000" dirty="0"/>
              <a:t> file to provide essential administrative context on the map.</a:t>
            </a:r>
          </a:p>
          <a:p>
            <a:pPr lvl="1"/>
            <a:r>
              <a:rPr lang="en-US" sz="2000" b="1" dirty="0"/>
              <a:t>Facility Data Aggregation:</a:t>
            </a:r>
            <a:r>
              <a:rPr lang="en-US" sz="2000" dirty="0"/>
              <a:t> Spatial and attribute data for facilities were compiled from a combination of:</a:t>
            </a:r>
          </a:p>
          <a:p>
            <a:pPr lvl="2"/>
            <a:r>
              <a:rPr lang="en-US" sz="2000" dirty="0"/>
              <a:t>OpenStreetMap (OSM)</a:t>
            </a:r>
          </a:p>
          <a:p>
            <a:pPr lvl="2"/>
            <a:r>
              <a:rPr lang="en-US" sz="2000" dirty="0"/>
              <a:t>Official district local government databases and publications</a:t>
            </a:r>
          </a:p>
          <a:p>
            <a:pPr lvl="2"/>
            <a:r>
              <a:rPr lang="en-US" sz="2000" dirty="0"/>
              <a:t>Google Places API and manual verification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2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121E-C8CC-99FF-3CF0-941287CD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1A78D-BA39-BDCE-D51B-1B20A27A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735" y="1538464"/>
            <a:ext cx="8946541" cy="3781071"/>
          </a:xfrm>
        </p:spPr>
        <p:txBody>
          <a:bodyPr/>
          <a:lstStyle/>
          <a:p>
            <a:pPr lvl="0"/>
            <a:r>
              <a:rPr lang="en-US" b="1" dirty="0"/>
              <a:t>Data Attributes Collected:</a:t>
            </a:r>
            <a:r>
              <a:rPr lang="en-US" dirty="0"/>
              <a:t> For each resource, the following core attributes were collected and structured into a central data management system (</a:t>
            </a:r>
            <a:r>
              <a:rPr lang="en-US" dirty="0" err="1"/>
              <a:t>js</a:t>
            </a:r>
            <a:r>
              <a:rPr lang="en-US" dirty="0"/>
              <a:t>/data.js):</a:t>
            </a:r>
          </a:p>
          <a:p>
            <a:pPr lvl="1"/>
            <a:r>
              <a:rPr lang="en-US" dirty="0"/>
              <a:t>Facility Name</a:t>
            </a:r>
          </a:p>
          <a:p>
            <a:pPr lvl="1"/>
            <a:r>
              <a:rPr lang="en-US" dirty="0"/>
              <a:t>Type (Healthcare, Education, Public Safety)</a:t>
            </a:r>
          </a:p>
          <a:p>
            <a:pPr lvl="1"/>
            <a:r>
              <a:rPr lang="en-US" dirty="0"/>
              <a:t>Contact Information (phone number, where available)</a:t>
            </a:r>
          </a:p>
          <a:p>
            <a:pPr lvl="1"/>
            <a:r>
              <a:rPr lang="en-US" dirty="0"/>
              <a:t>Geographic Coordinates (Latitude and Longitude)</a:t>
            </a:r>
          </a:p>
          <a:p>
            <a:pPr lvl="1"/>
            <a:r>
              <a:rPr lang="en-US" dirty="0"/>
              <a:t>Additional details such as services offered and operating hours.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8E0A-E12F-8635-5CC2-CA0894EE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1.3 Tools and Technologies Used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1F42-8118-E607-F5C8-FE2751F8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2" y="1479176"/>
            <a:ext cx="10779407" cy="49261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platform was built using a modern, robust, and entirely client-side technology stack to ensure performance and accessibility.</a:t>
            </a:r>
          </a:p>
          <a:p>
            <a:pPr lvl="0"/>
            <a:r>
              <a:rPr lang="en-US" b="1" dirty="0"/>
              <a:t>Frontend Foundation:</a:t>
            </a:r>
            <a:r>
              <a:rPr lang="en-US" dirty="0"/>
              <a:t> HTML5, CSS3, and vanilla JavaScript (ES6+).</a:t>
            </a:r>
          </a:p>
          <a:p>
            <a:pPr lvl="0"/>
            <a:r>
              <a:rPr lang="en-US" b="1" dirty="0"/>
              <a:t>Core Mapping Engine:</a:t>
            </a:r>
            <a:r>
              <a:rPr lang="en-US" dirty="0"/>
              <a:t> </a:t>
            </a:r>
            <a:r>
              <a:rPr lang="en-US" b="1" dirty="0"/>
              <a:t>Leaflet.js</a:t>
            </a:r>
            <a:r>
              <a:rPr lang="en-US" dirty="0"/>
              <a:t>, an open-source JavaScript library, was used for all map rendering and interactivity.</a:t>
            </a:r>
          </a:p>
          <a:p>
            <a:pPr lvl="0"/>
            <a:r>
              <a:rPr lang="en-US" b="1" dirty="0"/>
              <a:t>Mapping Enhancements:</a:t>
            </a:r>
            <a:endParaRPr lang="en-US" dirty="0"/>
          </a:p>
          <a:p>
            <a:pPr lvl="1"/>
            <a:r>
              <a:rPr lang="en-US" b="1" dirty="0" err="1"/>
              <a:t>Leaflet.MarkerCluster</a:t>
            </a:r>
            <a:r>
              <a:rPr lang="en-US" b="1" dirty="0"/>
              <a:t>:</a:t>
            </a:r>
            <a:r>
              <a:rPr lang="en-US" dirty="0"/>
              <a:t> To declutter the map and improve user experience when viewing many facilities.</a:t>
            </a:r>
          </a:p>
          <a:p>
            <a:pPr lvl="1"/>
            <a:r>
              <a:rPr lang="en-US" b="1" dirty="0" err="1"/>
              <a:t>Leaflet.Routing</a:t>
            </a:r>
            <a:r>
              <a:rPr lang="en-US" b="1" dirty="0"/>
              <a:t>:</a:t>
            </a:r>
            <a:r>
              <a:rPr lang="en-US" dirty="0"/>
              <a:t> (Planned/Implemented) for directions functionality.</a:t>
            </a:r>
          </a:p>
          <a:p>
            <a:pPr lvl="0"/>
            <a:r>
              <a:rPr lang="en-US" b="1" dirty="0"/>
              <a:t>Data Visualization:</a:t>
            </a:r>
            <a:r>
              <a:rPr lang="en-US" dirty="0"/>
              <a:t> </a:t>
            </a:r>
            <a:r>
              <a:rPr lang="en-US" b="1" dirty="0"/>
              <a:t>Chart.js</a:t>
            </a:r>
            <a:r>
              <a:rPr lang="en-US" dirty="0"/>
              <a:t> was integrated to power the analytics and statistics dashboard.</a:t>
            </a:r>
          </a:p>
          <a:p>
            <a:pPr lvl="0"/>
            <a:r>
              <a:rPr lang="en-US" b="1" dirty="0"/>
              <a:t>Data Handling:</a:t>
            </a:r>
            <a:r>
              <a:rPr lang="en-US" dirty="0"/>
              <a:t> </a:t>
            </a:r>
            <a:r>
              <a:rPr lang="en-US" dirty="0" err="1"/>
              <a:t>GeoJSON</a:t>
            </a:r>
            <a:r>
              <a:rPr lang="en-US" dirty="0"/>
              <a:t> was the primary format for storing and rendering both facility data and district boundaries.</a:t>
            </a:r>
          </a:p>
          <a:p>
            <a:pPr lvl="0"/>
            <a:r>
              <a:rPr lang="en-US" b="1" dirty="0"/>
              <a:t>User Interface:</a:t>
            </a:r>
            <a:r>
              <a:rPr lang="en-US" dirty="0"/>
              <a:t> Custom CSS for a fully responsive design and Font Awesome for intuitive icons.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5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6F58-7C06-7125-81AE-3728A7356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2. System Functionality &amp; Architecture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2661-9789-CBF3-0C35-0B2D216A0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34353"/>
            <a:ext cx="8946541" cy="1618129"/>
          </a:xfrm>
        </p:spPr>
        <p:txBody>
          <a:bodyPr/>
          <a:lstStyle/>
          <a:p>
            <a:r>
              <a:rPr lang="en-US" b="1" dirty="0"/>
              <a:t>2.1 System Architecture &amp; Workflow</a:t>
            </a:r>
          </a:p>
          <a:p>
            <a:r>
              <a:rPr lang="en-US" dirty="0"/>
              <a:t>The application follows a client-side architecture, where all data and logic are processed within the user's web browser for fast and efficient performance.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70420E-CA69-FA49-F553-5FC346253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56" y="3186953"/>
            <a:ext cx="5698351" cy="271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6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3EB7-D86A-4AA7-F834-FEC6101A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125071"/>
            <a:ext cx="9404723" cy="824753"/>
          </a:xfrm>
        </p:spPr>
        <p:txBody>
          <a:bodyPr/>
          <a:lstStyle/>
          <a:p>
            <a:r>
              <a:rPr lang="en-US" sz="2400" b="1" dirty="0"/>
              <a:t>Key Components: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470B-6930-1E98-F04F-74E35965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718" y="2052918"/>
            <a:ext cx="10367682" cy="4428564"/>
          </a:xfrm>
        </p:spPr>
        <p:txBody>
          <a:bodyPr/>
          <a:lstStyle/>
          <a:p>
            <a:r>
              <a:rPr lang="en-US" b="1" dirty="0"/>
              <a:t>Key Components:</a:t>
            </a:r>
            <a:endParaRPr lang="en-US" dirty="0"/>
          </a:p>
          <a:p>
            <a:pPr lvl="0"/>
            <a:r>
              <a:rPr lang="en-US" b="1" dirty="0"/>
              <a:t>User Interface (UI):</a:t>
            </a:r>
            <a:r>
              <a:rPr lang="en-US" dirty="0"/>
              <a:t> A multi-page website (index.html, map.html, analytics.html, etc.) providing clear navigation and a professional user experience.</a:t>
            </a:r>
          </a:p>
          <a:p>
            <a:pPr lvl="0"/>
            <a:r>
              <a:rPr lang="en-US" b="1" dirty="0"/>
              <a:t>JavaScript Modules:</a:t>
            </a:r>
            <a:r>
              <a:rPr lang="en-US" dirty="0"/>
              <a:t> Specialized scripts (map.js, filters.js, analytics.js, export.js) that handle specific functionalities, making the codebase maintainable and scalable.</a:t>
            </a:r>
          </a:p>
          <a:p>
            <a:pPr lvl="0"/>
            <a:r>
              <a:rPr lang="en-US" b="1" dirty="0"/>
              <a:t>Data Layer:</a:t>
            </a:r>
            <a:r>
              <a:rPr lang="en-US" dirty="0"/>
              <a:t> </a:t>
            </a:r>
            <a:r>
              <a:rPr lang="en-US" dirty="0" err="1"/>
              <a:t>GeoJSON</a:t>
            </a:r>
            <a:r>
              <a:rPr lang="en-US" dirty="0"/>
              <a:t> files and JavaScript objects (data.js) that store all spatial and attribute information for facilities and districts.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5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A03F-C790-E445-3CF1-7B872856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7" y="493060"/>
            <a:ext cx="9404723" cy="1400530"/>
          </a:xfrm>
        </p:spPr>
        <p:txBody>
          <a:bodyPr/>
          <a:lstStyle/>
          <a:p>
            <a:r>
              <a:rPr lang="en-US" sz="3600" b="1" dirty="0"/>
              <a:t>2.2 Core Functional Requirements Met</a:t>
            </a:r>
            <a:br>
              <a:rPr lang="en-US" sz="3600" b="1" dirty="0"/>
            </a:b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04F7A6-B72E-EB67-ECCB-7239D876D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091655"/>
              </p:ext>
            </p:extLst>
          </p:nvPr>
        </p:nvGraphicFramePr>
        <p:xfrm>
          <a:off x="941294" y="1465729"/>
          <a:ext cx="9856694" cy="49942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64754">
                  <a:extLst>
                    <a:ext uri="{9D8B030D-6E8A-4147-A177-3AD203B41FA5}">
                      <a16:colId xmlns:a16="http://schemas.microsoft.com/office/drawing/2014/main" val="1029620040"/>
                    </a:ext>
                  </a:extLst>
                </a:gridCol>
                <a:gridCol w="6091940">
                  <a:extLst>
                    <a:ext uri="{9D8B030D-6E8A-4147-A177-3AD203B41FA5}">
                      <a16:colId xmlns:a16="http://schemas.microsoft.com/office/drawing/2014/main" val="2190362748"/>
                    </a:ext>
                  </a:extLst>
                </a:gridCol>
              </a:tblGrid>
              <a:tr h="3929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Requirement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Implementation in UgandaGIS Platform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3268335"/>
                  </a:ext>
                </a:extLst>
              </a:tr>
              <a:tr h="12283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Collect data for 15+ resources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Successfully collected and integrated data for numerous health, education, and safety facilities across multiple districts in Central Uganda.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0772707"/>
                  </a:ext>
                </a:extLst>
              </a:tr>
              <a:tr h="9162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Display data on a web map using Leaflet.js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Implemented a dynamic interactive map on map.html using Leaflet, with OSM base tiles and facility markers.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1759709"/>
                  </a:ext>
                </a:extLst>
              </a:tr>
              <a:tr h="12283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Add pop-ups showing details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Each facility marker on the map has a clickable pop-up that displays detailed information including name, type, contact info, and other available attributes.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1601685"/>
                  </a:ext>
                </a:extLst>
              </a:tr>
              <a:tr h="12283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Implement a filter by type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Developed an advanced filtering system (filters.js) allowing users to display facilities by category (Healthcare, Education, Public Safety) and further refine by district.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8974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65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4C24-5A45-66FD-83FD-746B4148F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i="1" dirty="0"/>
              <a:t>screenshot of the map.html page here, showing markers, filters, and a pop-up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21965D-5363-8892-B4C4-B43C61010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396" y="1233665"/>
            <a:ext cx="9404723" cy="50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2BEB-5DA1-3204-83B3-D958C3CF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464" y="452718"/>
            <a:ext cx="2836677" cy="1470211"/>
          </a:xfrm>
        </p:spPr>
        <p:txBody>
          <a:bodyPr/>
          <a:lstStyle/>
          <a:p>
            <a:r>
              <a:rPr lang="en-US" sz="4800" dirty="0"/>
              <a:t>Home</a:t>
            </a:r>
            <a:br>
              <a:rPr lang="en-US" sz="4800" dirty="0"/>
            </a:br>
            <a:r>
              <a:rPr lang="en-US" sz="4800" dirty="0"/>
              <a:t>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85DB1-1259-862E-7515-5D075B354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011" y="452718"/>
            <a:ext cx="3335060" cy="6173776"/>
          </a:xfrm>
        </p:spPr>
      </p:pic>
    </p:spTree>
    <p:extLst>
      <p:ext uri="{BB962C8B-B14F-4D97-AF65-F5344CB8AC3E}">
        <p14:creationId xmlns:p14="http://schemas.microsoft.com/office/powerpoint/2010/main" val="2677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A7288-AD62-BC2F-37C1-F877C9D0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99" y="461681"/>
            <a:ext cx="2554289" cy="1819835"/>
          </a:xfrm>
        </p:spPr>
        <p:txBody>
          <a:bodyPr/>
          <a:lstStyle/>
          <a:p>
            <a:r>
              <a:rPr lang="en-US" dirty="0"/>
              <a:t>Analytics </a:t>
            </a:r>
            <a:br>
              <a:rPr lang="en-US" dirty="0"/>
            </a:br>
            <a:r>
              <a:rPr lang="en-US" dirty="0"/>
              <a:t>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4800F-9475-003A-0039-F1132F1E6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44" y="425823"/>
            <a:ext cx="5934218" cy="6006353"/>
          </a:xfrm>
        </p:spPr>
      </p:pic>
    </p:spTree>
    <p:extLst>
      <p:ext uri="{BB962C8B-B14F-4D97-AF65-F5344CB8AC3E}">
        <p14:creationId xmlns:p14="http://schemas.microsoft.com/office/powerpoint/2010/main" val="283207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4AB7-B6D1-785B-B74E-1FB2BF3A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7819-EFE7-AC08-2A6C-3716FA4A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99" y="461681"/>
            <a:ext cx="2554289" cy="1819835"/>
          </a:xfrm>
        </p:spPr>
        <p:txBody>
          <a:bodyPr/>
          <a:lstStyle/>
          <a:p>
            <a:r>
              <a:rPr lang="en-US" dirty="0"/>
              <a:t>Reports </a:t>
            </a:r>
            <a:br>
              <a:rPr lang="en-US" dirty="0"/>
            </a:br>
            <a:r>
              <a:rPr lang="en-US" dirty="0"/>
              <a:t>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D0C509-D8F2-237B-79BC-0296FD934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3144" y="425823"/>
            <a:ext cx="5934218" cy="6006353"/>
          </a:xfrm>
        </p:spPr>
      </p:pic>
    </p:spTree>
    <p:extLst>
      <p:ext uri="{BB962C8B-B14F-4D97-AF65-F5344CB8AC3E}">
        <p14:creationId xmlns:p14="http://schemas.microsoft.com/office/powerpoint/2010/main" val="207298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E4A-6F42-3B79-DA57-B725FECA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2.3 Advanced Functionality &amp; Features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1442-0374-5FB5-353D-2195E376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Going beyond the basic requirements, the UgandaGIS Platform includes several advanced features:</a:t>
            </a:r>
          </a:p>
          <a:p>
            <a:r>
              <a:rPr lang="en-US" b="1" dirty="0"/>
              <a:t>Analytics Dashboard (</a:t>
            </a:r>
            <a:r>
              <a:rPr lang="en-US" dirty="0"/>
              <a:t>analytics.html</a:t>
            </a:r>
            <a:r>
              <a:rPr lang="en-US" b="1" dirty="0"/>
              <a:t>):</a:t>
            </a:r>
            <a:r>
              <a:rPr lang="en-US" dirty="0"/>
              <a:t> Provides data visualizations (charts, graphs) of facility distributions, offering immediate insights into resource coverage and gaps</a:t>
            </a:r>
          </a:p>
          <a:p>
            <a:pPr lvl="0"/>
            <a:r>
              <a:rPr lang="en-US" b="1" dirty="0"/>
              <a:t>Custom Report Generation (</a:t>
            </a:r>
            <a:r>
              <a:rPr lang="en-US" dirty="0"/>
              <a:t>reports.html</a:t>
            </a:r>
            <a:r>
              <a:rPr lang="en-US" b="1" dirty="0"/>
              <a:t>):</a:t>
            </a:r>
            <a:r>
              <a:rPr lang="en-US" dirty="0"/>
              <a:t> Allows users to generate and download comprehensive reports in multiple formats (CSV, </a:t>
            </a:r>
            <a:r>
              <a:rPr lang="en-US" dirty="0" err="1"/>
              <a:t>GeoJSON</a:t>
            </a:r>
            <a:r>
              <a:rPr lang="en-US" dirty="0"/>
              <a:t>, KML), facilitating offline analysis and integration with other software.</a:t>
            </a:r>
          </a:p>
          <a:p>
            <a:pPr lvl="0"/>
            <a:r>
              <a:rPr lang="en-US" b="1" dirty="0"/>
              <a:t>Responsive Design:</a:t>
            </a:r>
            <a:r>
              <a:rPr lang="en-US" dirty="0"/>
              <a:t> The platform is fully accessible on desktops, tablets, and smartphones, ensuring wide community reach.</a:t>
            </a:r>
          </a:p>
          <a:p>
            <a:pPr lvl="0"/>
            <a:r>
              <a:rPr lang="en-US" b="1" dirty="0"/>
              <a:t>District Boundary Integration:</a:t>
            </a:r>
            <a:r>
              <a:rPr lang="en-US" dirty="0"/>
              <a:t> Visualizing district boundaries provides crucial administrative context for spatial analysis and planning.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5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1BBE-4049-051A-D1C3-D61BF0C9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3.Community Benefits &amp; Conclusion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95B4-9A5E-DD42-4EF8-E8737D772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88" y="1407459"/>
            <a:ext cx="10442577" cy="499782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3.1 Community Benefits</a:t>
            </a:r>
          </a:p>
          <a:p>
            <a:r>
              <a:rPr lang="en-US" dirty="0"/>
              <a:t>The deployment of the UgandaGIS Platform offers significant, tangible benefits to the community, government, and non-governmental organizations:</a:t>
            </a:r>
          </a:p>
          <a:p>
            <a:pPr lvl="0"/>
            <a:r>
              <a:rPr lang="en-US" b="1" dirty="0"/>
              <a:t>Improved Access to Essential Services:</a:t>
            </a:r>
            <a:r>
              <a:rPr lang="en-US" dirty="0"/>
              <a:t> Citizens can quickly and easily locate the nearest health center, school, or police station, reducing search times and improving outcomes in critical situations.</a:t>
            </a:r>
          </a:p>
          <a:p>
            <a:pPr lvl="0"/>
            <a:r>
              <a:rPr lang="en-US" b="1" dirty="0"/>
              <a:t>Data-Driven Planning and Advocacy:</a:t>
            </a:r>
            <a:r>
              <a:rPr lang="en-US" dirty="0"/>
              <a:t> The platform provides community leaders and NGOs with clear visual evidence of "service deserts." The analytics dashboard helps identify areas with a lack of facilities, supporting advocacy for new resources and enabling more equitable distribution of public funds.</a:t>
            </a:r>
          </a:p>
          <a:p>
            <a:pPr lvl="0"/>
            <a:r>
              <a:rPr lang="en-US" b="1" dirty="0"/>
              <a:t>Transparency and Public Awareness:</a:t>
            </a:r>
            <a:r>
              <a:rPr lang="en-US" dirty="0"/>
              <a:t> By centralizing facility information in a public repository, the platform increases community awareness of available resources and fosters greater government accountability.</a:t>
            </a:r>
          </a:p>
          <a:p>
            <a:pPr lvl="0"/>
            <a:r>
              <a:rPr lang="en-US" b="1" dirty="0"/>
              <a:t>Efficiency for Field Workers and Planners:</a:t>
            </a:r>
            <a:r>
              <a:rPr lang="en-US" dirty="0"/>
              <a:t> The ability to filter, search, and export data saves significant time and resources for professionals working in public service, healthcare, and development sectors.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7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3C82-2888-13CE-D727-EC10E67C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3.2 Conclusion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DDEC-0F8C-32E4-71B7-B7C89808D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71" y="1528483"/>
            <a:ext cx="10044300" cy="4195481"/>
          </a:xfrm>
        </p:spPr>
        <p:txBody>
          <a:bodyPr/>
          <a:lstStyle/>
          <a:p>
            <a:r>
              <a:rPr lang="en-US" dirty="0"/>
              <a:t>The UgandaGIS Platform successfully demonstrates the powerful role a well-designed web GIS can play in community development. By leveraging accessible technologies like Leaflet.js and a user-centric design, the project transforms complex spatial data into an intuitive, interactive, and highly valuable public asset. All core functional requirements have not only been met but exceeded, resulting in a robust platform ready for immediate use and future expansion.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10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1159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Ion</vt:lpstr>
      <vt:lpstr>Community Resource Mapping (Health, Education, or Safety Facilities)</vt:lpstr>
      <vt:lpstr>Project Name: CentralUgandaGIS Platform (Community Resource Locator) </vt:lpstr>
      <vt:lpstr>1.2 Data Collection Process </vt:lpstr>
      <vt:lpstr>Cont.</vt:lpstr>
      <vt:lpstr>1.3 Tools and Technologies Used </vt:lpstr>
      <vt:lpstr>2. System Functionality &amp; Architecture </vt:lpstr>
      <vt:lpstr>Key Components: </vt:lpstr>
      <vt:lpstr>2.2 Core Functional Requirements Met </vt:lpstr>
      <vt:lpstr>screenshot of the map.html page here, showing markers, filters, and a pop-up </vt:lpstr>
      <vt:lpstr>Home page</vt:lpstr>
      <vt:lpstr>Analytics  page</vt:lpstr>
      <vt:lpstr>Reports  page</vt:lpstr>
      <vt:lpstr>2.3 Advanced Functionality &amp; Features </vt:lpstr>
      <vt:lpstr>3.Community Benefits &amp; Conclusion </vt:lpstr>
      <vt:lpstr>3.2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Kato</dc:creator>
  <cp:lastModifiedBy>Edson Kato</cp:lastModifiedBy>
  <cp:revision>11</cp:revision>
  <dcterms:created xsi:type="dcterms:W3CDTF">2025-10-28T19:21:46Z</dcterms:created>
  <dcterms:modified xsi:type="dcterms:W3CDTF">2025-10-29T07:29:25Z</dcterms:modified>
</cp:coreProperties>
</file>